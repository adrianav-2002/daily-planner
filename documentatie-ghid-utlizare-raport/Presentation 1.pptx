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0" name="Rectangle 7"/>
          <p:cNvSpPr/>
          <p:nvPr/>
        </p:nvSpPr>
        <p:spPr>
          <a:xfrm>
            <a:off x="558360" y="4981320"/>
            <a:ext cx="11132280" cy="820440"/>
          </a:xfrm>
          <a:prstGeom prst="rect">
            <a:avLst/>
          </a:prstGeom>
          <a:ln>
            <a:solidFill>
              <a:srgbClr val="e9e9e9"/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Rectangle 9"/>
          <p:cNvSpPr/>
          <p:nvPr/>
        </p:nvSpPr>
        <p:spPr>
          <a:xfrm>
            <a:off x="498960" y="5118480"/>
            <a:ext cx="143640" cy="546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57640" y="640080"/>
            <a:ext cx="10887840" cy="41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6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41320" y="5102280"/>
            <a:ext cx="1060452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56E9A1-7425-4CEC-A1BA-F2FFB7DBF96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/>
          <p:cNvSpPr/>
          <p:nvPr/>
        </p:nvSpPr>
        <p:spPr>
          <a:xfrm>
            <a:off x="558360" y="0"/>
            <a:ext cx="11165040" cy="2016360"/>
          </a:xfrm>
          <a:prstGeom prst="rect">
            <a:avLst/>
          </a:prstGeom>
          <a:ln w="9525">
            <a:solidFill>
              <a:srgbClr val="e9e9e9"/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7" name="Rectangle 10"/>
          <p:cNvSpPr/>
          <p:nvPr/>
        </p:nvSpPr>
        <p:spPr>
          <a:xfrm>
            <a:off x="567000" y="0"/>
            <a:ext cx="11153160" cy="200916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Rectangle 12"/>
          <p:cNvSpPr/>
          <p:nvPr/>
        </p:nvSpPr>
        <p:spPr>
          <a:xfrm>
            <a:off x="498960" y="787320"/>
            <a:ext cx="125640" cy="70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35240" cy="369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346080" y="2477880"/>
            <a:ext cx="4935240" cy="369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4"/>
          </p:nvPr>
        </p:nvSpPr>
        <p:spPr>
          <a:xfrm>
            <a:off x="854064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8743FB-3967-4DDA-8A9E-40A148FD15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/>
          <p:cNvSpPr/>
          <p:nvPr/>
        </p:nvSpPr>
        <p:spPr>
          <a:xfrm>
            <a:off x="558360" y="0"/>
            <a:ext cx="11165040" cy="2016360"/>
          </a:xfrm>
          <a:prstGeom prst="rect">
            <a:avLst/>
          </a:prstGeom>
          <a:ln w="9525">
            <a:solidFill>
              <a:srgbClr val="e9e9e9"/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15" name="Rectangle 12"/>
          <p:cNvSpPr/>
          <p:nvPr/>
        </p:nvSpPr>
        <p:spPr>
          <a:xfrm>
            <a:off x="567000" y="0"/>
            <a:ext cx="11153160" cy="200916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14"/>
          <p:cNvSpPr/>
          <p:nvPr/>
        </p:nvSpPr>
        <p:spPr>
          <a:xfrm>
            <a:off x="498960" y="787320"/>
            <a:ext cx="125640" cy="70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115640" y="2372760"/>
            <a:ext cx="493524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115640" y="3203640"/>
            <a:ext cx="4935240" cy="296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346080" y="2372760"/>
            <a:ext cx="493524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346080" y="3203640"/>
            <a:ext cx="4935240" cy="296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sldNum" idx="6"/>
          </p:nvPr>
        </p:nvSpPr>
        <p:spPr>
          <a:xfrm>
            <a:off x="854064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8B96BC-6F5C-4516-80B6-EA23B040CF7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6"/>
          <p:cNvSpPr/>
          <p:nvPr/>
        </p:nvSpPr>
        <p:spPr>
          <a:xfrm>
            <a:off x="666000" y="1533600"/>
            <a:ext cx="10914480" cy="3788280"/>
          </a:xfrm>
          <a:prstGeom prst="rect">
            <a:avLst/>
          </a:prstGeom>
          <a:ln>
            <a:solidFill>
              <a:srgbClr val="e9e9e9"/>
            </a:solidFill>
          </a:ln>
          <a:effectLst>
            <a:outerShdw algn="tl" blurRad="50760" dir="2700000" dist="37674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ectangle 8"/>
          <p:cNvSpPr/>
          <p:nvPr/>
        </p:nvSpPr>
        <p:spPr>
          <a:xfrm>
            <a:off x="609120" y="2971800"/>
            <a:ext cx="125640" cy="911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78920" y="1938600"/>
            <a:ext cx="10174680" cy="29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E8B28F-BCA4-4A7B-82B1-CF9B0F24218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2B3636-CAD2-4373-8A1A-A5FD3CC6E9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8"/>
          <p:cNvSpPr/>
          <p:nvPr/>
        </p:nvSpPr>
        <p:spPr>
          <a:xfrm>
            <a:off x="558360" y="1162080"/>
            <a:ext cx="3738240" cy="4640760"/>
          </a:xfrm>
          <a:prstGeom prst="rect">
            <a:avLst/>
          </a:prstGeom>
          <a:ln>
            <a:solidFill>
              <a:srgbClr val="e9e9e9"/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Rectangle 10"/>
          <p:cNvSpPr/>
          <p:nvPr/>
        </p:nvSpPr>
        <p:spPr>
          <a:xfrm>
            <a:off x="498960" y="1618200"/>
            <a:ext cx="143640" cy="820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68680" y="1710000"/>
            <a:ext cx="3097440" cy="17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965120" y="1710000"/>
            <a:ext cx="6727320" cy="409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68680" y="3429000"/>
            <a:ext cx="3097440" cy="206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2150D1-FEE6-4702-8062-9676A0BA44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8"/>
          <p:cNvSpPr/>
          <p:nvPr/>
        </p:nvSpPr>
        <p:spPr>
          <a:xfrm>
            <a:off x="558360" y="1162080"/>
            <a:ext cx="3738240" cy="4640760"/>
          </a:xfrm>
          <a:prstGeom prst="rect">
            <a:avLst/>
          </a:prstGeom>
          <a:ln>
            <a:solidFill>
              <a:srgbClr val="e9e9e9"/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10"/>
          <p:cNvSpPr/>
          <p:nvPr/>
        </p:nvSpPr>
        <p:spPr>
          <a:xfrm>
            <a:off x="498960" y="1618200"/>
            <a:ext cx="143640" cy="820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68680" y="1710000"/>
            <a:ext cx="3097440" cy="17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965120" y="1161360"/>
            <a:ext cx="6727320" cy="464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the outline text format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o-RO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Outline Level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Outline Level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o-RO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Outline Level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Outline Level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Sixth Outline Level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Seventh Outline Level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68680" y="3438000"/>
            <a:ext cx="3097440" cy="205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00CE76-298F-4B65-A1F7-0E460EB2A3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76000" y="1124640"/>
            <a:ext cx="11034360" cy="317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15"/>
          </p:nvPr>
        </p:nvSpPr>
        <p:spPr>
          <a:xfrm>
            <a:off x="57600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17"/>
          </p:nvPr>
        </p:nvSpPr>
        <p:spPr>
          <a:xfrm>
            <a:off x="88696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7971B4-C1FA-4921-907E-B2C51216E0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Rectangle 7"/>
          <p:cNvSpPr/>
          <p:nvPr/>
        </p:nvSpPr>
        <p:spPr>
          <a:xfrm rot="5400000">
            <a:off x="860040" y="344160"/>
            <a:ext cx="143640" cy="70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9"/>
          <p:cNvSpPr/>
          <p:nvPr/>
        </p:nvSpPr>
        <p:spPr>
          <a:xfrm flipV="1">
            <a:off x="578520" y="4496400"/>
            <a:ext cx="11032200" cy="158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the outline text format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o-RO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Outline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Outline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o-RO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Outline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Outline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Sixth Outline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Seventh Outline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93CE8A-7CC7-40EC-BD0A-2924A3E2971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560" cy="58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1720" cy="58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F32C55-DFBE-4721-A648-E0F6DD2C6A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7"/>
          <p:cNvSpPr/>
          <p:nvPr/>
        </p:nvSpPr>
        <p:spPr>
          <a:xfrm>
            <a:off x="558360" y="0"/>
            <a:ext cx="11165040" cy="2016360"/>
          </a:xfrm>
          <a:prstGeom prst="rect">
            <a:avLst/>
          </a:prstGeom>
          <a:ln w="9525">
            <a:solidFill>
              <a:srgbClr val="e9e9e9"/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61" name="Rectangle 9"/>
          <p:cNvSpPr/>
          <p:nvPr/>
        </p:nvSpPr>
        <p:spPr>
          <a:xfrm>
            <a:off x="567000" y="0"/>
            <a:ext cx="11153160" cy="200916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11"/>
          <p:cNvSpPr/>
          <p:nvPr/>
        </p:nvSpPr>
        <p:spPr>
          <a:xfrm>
            <a:off x="498960" y="787320"/>
            <a:ext cx="125640" cy="70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10165680" cy="369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b="0" lang="ro-RO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3"/>
          </p:nvPr>
        </p:nvSpPr>
        <p:spPr>
          <a:xfrm>
            <a:off x="854064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95078D-4995-421B-BECA-D4D6633762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b="0" lang="ro-RO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40080" y="1473120"/>
            <a:ext cx="7411680" cy="269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o-RO" sz="66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Daily Schedule</a:t>
            </a:r>
            <a:br>
              <a:rPr sz="6600"/>
            </a:br>
            <a:endParaRPr b="0" lang="ro-RO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o-RO" sz="2400" strike="noStrike" u="none" cap="all">
                <a:solidFill>
                  <a:schemeClr val="dk1"/>
                </a:solidFill>
                <a:effectLst/>
                <a:uFillTx/>
                <a:latin typeface="Aptos Display"/>
              </a:rPr>
              <a:t>Proiect realizat în Java + JavaFX + SQLite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asetăText 3"/>
          <p:cNvSpPr/>
          <p:nvPr/>
        </p:nvSpPr>
        <p:spPr>
          <a:xfrm>
            <a:off x="720000" y="5220000"/>
            <a:ext cx="9126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Vasiescu Adriana, grupa 8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o-RO" sz="40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Problemă / Motivație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115640" y="2477880"/>
            <a:ext cx="10165680" cy="369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Mulți oameni amână sau uită task-uri importante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Majoritatea aplicațiilor existente sunt mobile sau cloud → prea multe notificări inutile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Dorința de a avea un tool simplu, local, personalizat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Nevoia de notificări inteligente doar când contează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o-RO" sz="40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Obiectivele aplicației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115640" y="2081520"/>
            <a:ext cx="10165680" cy="408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Gestionarea ușoară a activităților (adăugare, editare, ștergere)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Urmărirea deadline-urilor cu afișare sortată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Notificări automate la timp configurabil (ex: cu X ore/minute înainte)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Marcarea activităților ca „Terminat”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Persistență date în baza SQLite (nu se pierd la închidere)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3C2100-65F0-4D3D-A1F7-C399D1F12DB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o-RO" sz="40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Tehnologii utilizate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115640" y="2477880"/>
            <a:ext cx="10165680" cy="369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Limbaj: Java 17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Interfață grafică: JavaFX + FXML + Scene Builder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Bază de date: SQLite (jdbc:sqlite)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Altele: Timeline pentru verificări periodice, Spinner, DatePicker, TableView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E568E2-C047-4A6B-8E18-5106F086D3BB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115640" y="547560"/>
            <a:ext cx="10165680" cy="11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o-RO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Diagrama</a:t>
            </a:r>
            <a:endParaRPr b="0" lang="ro-RO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575320" y="2340000"/>
            <a:ext cx="738396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Controller → folosește Activity 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Controller → folosește ActivityDAO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ActivityDAO → folosește Database 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ActivityDAO → creează / modifică Activity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o-R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180000" y="1800000"/>
            <a:ext cx="5400000" cy="46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F797F5-761D-44E2-8D34-B61DA7D7D2C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Substituent imagine 20" descr="O imagine care conține text, captură de ecran, afișaj, număr&#10;&#10;Conținutul generat de inteligența artificială poate fi incorect."/>
          <p:cNvPicPr/>
          <p:nvPr/>
        </p:nvPicPr>
        <p:blipFill>
          <a:blip r:embed="rId1"/>
          <a:srcRect l="0" t="704" r="0" b="704"/>
          <a:stretch/>
        </p:blipFill>
        <p:spPr>
          <a:xfrm>
            <a:off x="4293000" y="690480"/>
            <a:ext cx="7769520" cy="52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68680" y="1710000"/>
            <a:ext cx="3097440" cy="17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400"/>
            </a:br>
            <a:r>
              <a:rPr b="0" lang="ro-RO" sz="4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Interfața</a:t>
            </a:r>
            <a:endParaRPr b="0" lang="ro-RO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400"/>
            </a:br>
            <a:endParaRPr b="0" lang="ro-RO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68680" y="3438000"/>
            <a:ext cx="3097440" cy="205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Săgeată: stânga 8"/>
          <p:cNvSpPr/>
          <p:nvPr/>
        </p:nvSpPr>
        <p:spPr>
          <a:xfrm>
            <a:off x="7745040" y="1027440"/>
            <a:ext cx="501480" cy="221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5a700"/>
          </a:solidFill>
          <a:ln>
            <a:solidFill>
              <a:srgbClr val="6b4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o-RO" sz="1800" strike="noStrike" u="none">
              <a:solidFill>
                <a:schemeClr val="lt1"/>
              </a:solidFill>
              <a:effectLst/>
              <a:uFillTx/>
              <a:latin typeface="Avenir Next LT Pro"/>
            </a:endParaRPr>
          </a:p>
        </p:txBody>
      </p:sp>
      <p:sp>
        <p:nvSpPr>
          <p:cNvPr id="85" name="CasetăText 9"/>
          <p:cNvSpPr/>
          <p:nvPr/>
        </p:nvSpPr>
        <p:spPr>
          <a:xfrm>
            <a:off x="8182080" y="924120"/>
            <a:ext cx="29883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o-RO" sz="1800" strike="noStrike" u="none">
                <a:solidFill>
                  <a:srgbClr val="ff9d00"/>
                </a:solidFill>
                <a:effectLst/>
                <a:uFillTx/>
                <a:latin typeface="Avenir Next LT Pro"/>
                <a:ea typeface="Avenir Next LT Pro"/>
              </a:rPr>
              <a:t>Câmpuri de introducere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ăgeată: stânga 10"/>
          <p:cNvSpPr/>
          <p:nvPr/>
        </p:nvSpPr>
        <p:spPr>
          <a:xfrm>
            <a:off x="9168120" y="1711080"/>
            <a:ext cx="501480" cy="221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5a700"/>
          </a:solidFill>
          <a:ln>
            <a:solidFill>
              <a:srgbClr val="6b4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o-RO" sz="1800" strike="noStrike" u="none">
              <a:solidFill>
                <a:schemeClr val="lt1"/>
              </a:solidFill>
              <a:effectLst/>
              <a:uFillTx/>
              <a:latin typeface="Avenir Next LT Pro"/>
            </a:endParaRPr>
          </a:p>
        </p:txBody>
      </p:sp>
      <p:sp>
        <p:nvSpPr>
          <p:cNvPr id="87" name="CasetăText 12"/>
          <p:cNvSpPr/>
          <p:nvPr/>
        </p:nvSpPr>
        <p:spPr>
          <a:xfrm>
            <a:off x="9672480" y="1293840"/>
            <a:ext cx="2988360" cy="11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o-RO" sz="1800" strike="noStrike" u="none">
                <a:solidFill>
                  <a:srgbClr val="ff9d00"/>
                </a:solidFill>
                <a:effectLst/>
                <a:uFillTx/>
                <a:latin typeface="Avenir Next LT Pro"/>
              </a:rPr>
              <a:t>Spinnere și calendar pentru deadline </a:t>
            </a:r>
            <a:r>
              <a:rPr b="1" lang="ro-RO" sz="1800" strike="noStrike" u="none">
                <a:solidFill>
                  <a:srgbClr val="ff9d00"/>
                </a:solidFill>
                <a:effectLst/>
                <a:uFillTx/>
                <a:latin typeface="Avenir Next LT Pro"/>
                <a:ea typeface="Avenir Next LT Pro"/>
              </a:rPr>
              <a:t>și notificări în avans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ăgeată: stânga 2"/>
          <p:cNvSpPr/>
          <p:nvPr/>
        </p:nvSpPr>
        <p:spPr>
          <a:xfrm rot="5400000">
            <a:off x="7209720" y="4481280"/>
            <a:ext cx="501480" cy="221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5a700"/>
          </a:solidFill>
          <a:ln>
            <a:solidFill>
              <a:srgbClr val="6b4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o-RO" sz="1800" strike="noStrike" u="none">
              <a:solidFill>
                <a:schemeClr val="lt1"/>
              </a:solidFill>
              <a:effectLst/>
              <a:uFillTx/>
              <a:latin typeface="Avenir Next LT Pro"/>
            </a:endParaRPr>
          </a:p>
        </p:txBody>
      </p:sp>
      <p:sp>
        <p:nvSpPr>
          <p:cNvPr id="89" name="CasetăText 14"/>
          <p:cNvSpPr/>
          <p:nvPr/>
        </p:nvSpPr>
        <p:spPr>
          <a:xfrm>
            <a:off x="6099480" y="4941720"/>
            <a:ext cx="360468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o-RO" sz="1800" strike="noStrike" u="none">
                <a:solidFill>
                  <a:srgbClr val="ff9d00"/>
                </a:solidFill>
                <a:effectLst/>
                <a:uFillTx/>
                <a:latin typeface="Avenir Next LT Pro"/>
                <a:ea typeface="Avenir Next LT Pro"/>
              </a:rPr>
              <a:t>Tabel sortabil după Categorie/Activitate/Deadline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asetăText 15"/>
          <p:cNvSpPr/>
          <p:nvPr/>
        </p:nvSpPr>
        <p:spPr>
          <a:xfrm>
            <a:off x="9986040" y="2504160"/>
            <a:ext cx="29883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o-RO" sz="1800" strike="noStrike" u="none">
                <a:solidFill>
                  <a:srgbClr val="ff9d00"/>
                </a:solidFill>
                <a:effectLst/>
                <a:uFillTx/>
                <a:latin typeface="Avenir Next LT Pro"/>
                <a:ea typeface="Avenir Next LT Pro"/>
              </a:rPr>
              <a:t>Butoane intuitive</a:t>
            </a:r>
            <a:endParaRPr b="0" lang="ro-RO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6DFFD9-24C2-4583-BFB3-3A1289E3E40C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o-RO" sz="40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Funcționalități cheie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115640" y="2477880"/>
            <a:ext cx="10165680" cy="369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Adăugare activitate nouă (nume, categorie, dată + oră deadline)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Editare activitate existentă(cu resetare notificare)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Ștergere cu confirmare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Marcarea ca „Terminat” (schimbă status + blochează notificări viitoare)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ftr" idx="2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C99944-4CC4-43C2-BFCC-16C00B956990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o-RO" sz="40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Exemplu notificare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Substituent conținut 6" descr="O imagine care conține text, captură de ecran, Sistem de operare, software&#10;&#10;Conținutul generat de inteligența artificială poate fi incorect."/>
          <p:cNvPicPr/>
          <p:nvPr/>
        </p:nvPicPr>
        <p:blipFill>
          <a:blip r:embed="rId1"/>
          <a:stretch/>
        </p:blipFill>
        <p:spPr>
          <a:xfrm>
            <a:off x="4047120" y="3053520"/>
            <a:ext cx="4302720" cy="254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823CE9-E458-43B7-918D-D7C1251351B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o-RO" sz="40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Explicație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115640" y="2477880"/>
            <a:ext cx="10165680" cy="369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Utilizatorul setează: „Notifică-mă cu X ore și Y minute înainte”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Verificare la fiecare 60 secunde (Timeline)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Alertă doar dacă: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deadline-ul se apropie / a trecut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nu a fost notificat deja pentru acel deadline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53B5EF-C5C1-4DCD-ADBA-4A4B75FC3D31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115640" y="547560"/>
            <a:ext cx="10165680" cy="11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o-RO" sz="4400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Flow-uri importante</a:t>
            </a:r>
            <a:br>
              <a:rPr sz="4400"/>
            </a:br>
            <a:endParaRPr b="0" lang="ro-RO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115640" y="2339640"/>
            <a:ext cx="1016568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Flow 1: Adăugare → apare în tabel → se apropie deadline-ul → alertă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Flow 2: Editare deadline → notificarea veche se anulează → apare una nouă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Flow 3: Marcăm „Terminat” → status schimbat + nu mai primește notificări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23F0BF-15A8-4908-9E16-BBE8947F92B7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5680" cy="11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o-RO" sz="40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Puncte forte ale aplicației</a:t>
            </a:r>
            <a:endParaRPr b="0" lang="ro-RO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115640" y="2477880"/>
            <a:ext cx="10165680" cy="369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Simplă și intuitivă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Notificări configurabile și inteligente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Design curat, sortare automată după deadline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o-RO" sz="24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Ușor de extins (ex: categorii colorate, priorități, etc.)</a:t>
            </a:r>
            <a:endParaRPr b="0" lang="ro-RO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o-RO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o-RO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83DD75-B5EB-409F-B3DA-87944DA5C144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 pitchFamily="0" charset="1"/>
        <a:ea typeface=""/>
        <a:cs typeface=""/>
      </a:majorFont>
      <a:minorFont>
        <a:latin typeface="Avenir Next L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Application>LibreOffice/25.2.6.2$Windows_X86_64 LibreOffice_project/729c5bfe710f5eb71ed3bbde9e06a6065e9c6c5d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2026-01-30T20:23:34Z</dcterms:created>
  <dc:creator/>
  <dc:description/>
  <dc:language>ro-RO</dc:language>
  <cp:lastModifiedBy/>
  <dcterms:modified xsi:type="dcterms:W3CDTF">2026-02-02T12:57:32Z</dcterms:modified>
  <cp:revision>264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Ecran lat</vt:lpwstr>
  </property>
  <property fmtid="{D5CDD505-2E9C-101B-9397-08002B2CF9AE}" pid="3" name="Slides">
    <vt:i4>9</vt:i4>
  </property>
</Properties>
</file>